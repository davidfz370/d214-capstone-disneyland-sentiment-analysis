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x="18288000" cy="10287000"/>
  <p:notesSz cx="6858000" cy="9144000"/>
  <p:embeddedFontLst>
    <p:embeddedFont>
      <p:font typeface="Public Sans Bold" charset="1" panose="00000000000000000000"/>
      <p:regular r:id="rId40"/>
    </p:embeddedFont>
    <p:embeddedFont>
      <p:font typeface="Playfair Display" charset="1" panose="00000500000000000000"/>
      <p:regular r:id="rId41"/>
    </p:embeddedFont>
    <p:embeddedFont>
      <p:font typeface="Public Sans" charset="1" panose="00000000000000000000"/>
      <p:regular r:id="rId4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fonts/font40.fntdata" Type="http://schemas.openxmlformats.org/officeDocument/2006/relationships/font"/><Relationship Id="rId41" Target="fonts/font41.fntdata" Type="http://schemas.openxmlformats.org/officeDocument/2006/relationships/font"/><Relationship Id="rId42" Target="fonts/font42.fntdata" Type="http://schemas.openxmlformats.org/officeDocument/2006/relationships/font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Relationship Id="rId4" Target="../media/image18.pn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png" Type="http://schemas.openxmlformats.org/officeDocument/2006/relationships/image"/><Relationship Id="rId8" Target="../media/image22.png" Type="http://schemas.openxmlformats.org/officeDocument/2006/relationships/image"/><Relationship Id="rId9" Target="../media/image23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Relationship Id="rId3" Target="../media/image2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122182" y="4814517"/>
            <a:ext cx="8051860" cy="5542364"/>
          </a:xfrm>
          <a:custGeom>
            <a:avLst/>
            <a:gdLst/>
            <a:ahLst/>
            <a:cxnLst/>
            <a:rect r="r" b="b" t="t" l="l"/>
            <a:pathLst>
              <a:path h="5542364" w="8051860">
                <a:moveTo>
                  <a:pt x="0" y="0"/>
                </a:moveTo>
                <a:lnTo>
                  <a:pt x="8051860" y="0"/>
                </a:lnTo>
                <a:lnTo>
                  <a:pt x="8051860" y="5542364"/>
                </a:lnTo>
                <a:lnTo>
                  <a:pt x="0" y="55423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43749" y="4937458"/>
            <a:ext cx="1446182" cy="1671144"/>
          </a:xfrm>
          <a:custGeom>
            <a:avLst/>
            <a:gdLst/>
            <a:ahLst/>
            <a:cxnLst/>
            <a:rect r="r" b="b" t="t" l="l"/>
            <a:pathLst>
              <a:path h="1671144" w="1446182">
                <a:moveTo>
                  <a:pt x="0" y="0"/>
                </a:moveTo>
                <a:lnTo>
                  <a:pt x="1446182" y="0"/>
                </a:lnTo>
                <a:lnTo>
                  <a:pt x="1446182" y="1671144"/>
                </a:lnTo>
                <a:lnTo>
                  <a:pt x="0" y="16711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82" y="4728792"/>
            <a:ext cx="16230600" cy="6486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D214 - CAPSTONE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50974" y="1928442"/>
            <a:ext cx="16408332" cy="24880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64"/>
              </a:lnSpc>
            </a:pPr>
            <a:r>
              <a:rPr lang="en-US" sz="10400" spc="52">
                <a:solidFill>
                  <a:srgbClr val="00000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Disneyland Review Analysis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16407" y="8041005"/>
            <a:ext cx="7862435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David Fabian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WGU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M.S. Data Analytics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AGENDA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7877184" cy="5210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Research Question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Goals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Dataset Overview/Collection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Data Extraction and Preparation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Exploratory </a:t>
            </a: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Analysis 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Model Choice and Building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Model Summary and Analysis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Future Steps and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947489" y="3875779"/>
            <a:ext cx="5863082" cy="5863082"/>
          </a:xfrm>
          <a:custGeom>
            <a:avLst/>
            <a:gdLst/>
            <a:ahLst/>
            <a:cxnLst/>
            <a:rect r="r" b="b" t="t" l="l"/>
            <a:pathLst>
              <a:path h="5863082" w="5863082">
                <a:moveTo>
                  <a:pt x="0" y="0"/>
                </a:moveTo>
                <a:lnTo>
                  <a:pt x="5863083" y="0"/>
                </a:lnTo>
                <a:lnTo>
                  <a:pt x="5863083" y="5863082"/>
                </a:lnTo>
                <a:lnTo>
                  <a:pt x="0" y="58630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RESEARCH QUESTION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287699" y="2252257"/>
            <a:ext cx="11712602" cy="1109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9"/>
              </a:lnSpc>
              <a:spcBef>
                <a:spcPct val="0"/>
              </a:spcBef>
            </a:pPr>
            <a:r>
              <a:rPr lang="en-US" sz="320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How accurately can a neural network predict Disneyland California ratings (1-5) based on customer sentiment?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1454049" y="1760761"/>
            <a:ext cx="6833951" cy="6227438"/>
          </a:xfrm>
          <a:custGeom>
            <a:avLst/>
            <a:gdLst/>
            <a:ahLst/>
            <a:cxnLst/>
            <a:rect r="r" b="b" t="t" l="l"/>
            <a:pathLst>
              <a:path h="6227438" w="6833951">
                <a:moveTo>
                  <a:pt x="0" y="0"/>
                </a:moveTo>
                <a:lnTo>
                  <a:pt x="6833951" y="0"/>
                </a:lnTo>
                <a:lnTo>
                  <a:pt x="6833951" y="6227438"/>
                </a:lnTo>
                <a:lnTo>
                  <a:pt x="0" y="62274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GOALS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689" y="2122290"/>
            <a:ext cx="10611194" cy="9810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 a model that can accurately predict ratings based off parkgoer sentiment.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Null Hypothesis: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The chosen neural network does not achieve accuracy of 80% or more.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Alternate Hypothesis: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The chosen neural network achieves accuracy of 80% or higher.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Business Benefits: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Flagging system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Increase visitor return rate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Find areas to market and improve</a:t>
            </a: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122171" y="4276340"/>
            <a:ext cx="7972113" cy="3721349"/>
          </a:xfrm>
          <a:custGeom>
            <a:avLst/>
            <a:gdLst/>
            <a:ahLst/>
            <a:cxnLst/>
            <a:rect r="r" b="b" t="t" l="l"/>
            <a:pathLst>
              <a:path h="3721349" w="7972113">
                <a:moveTo>
                  <a:pt x="0" y="0"/>
                </a:moveTo>
                <a:lnTo>
                  <a:pt x="7972113" y="0"/>
                </a:lnTo>
                <a:lnTo>
                  <a:pt x="7972113" y="3721349"/>
                </a:lnTo>
                <a:lnTo>
                  <a:pt x="0" y="37213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150" t="-57799" r="0" b="-1675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144000" y="2067346"/>
            <a:ext cx="3446802" cy="1339944"/>
          </a:xfrm>
          <a:custGeom>
            <a:avLst/>
            <a:gdLst/>
            <a:ahLst/>
            <a:cxnLst/>
            <a:rect r="r" b="b" t="t" l="l"/>
            <a:pathLst>
              <a:path h="1339944" w="3446802">
                <a:moveTo>
                  <a:pt x="0" y="0"/>
                </a:moveTo>
                <a:lnTo>
                  <a:pt x="3446802" y="0"/>
                </a:lnTo>
                <a:lnTo>
                  <a:pt x="3446802" y="1339944"/>
                </a:lnTo>
                <a:lnTo>
                  <a:pt x="0" y="13399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828927" y="1594074"/>
            <a:ext cx="4851964" cy="2286488"/>
          </a:xfrm>
          <a:custGeom>
            <a:avLst/>
            <a:gdLst/>
            <a:ahLst/>
            <a:cxnLst/>
            <a:rect r="r" b="b" t="t" l="l"/>
            <a:pathLst>
              <a:path h="2286488" w="4851964">
                <a:moveTo>
                  <a:pt x="0" y="0"/>
                </a:moveTo>
                <a:lnTo>
                  <a:pt x="4851964" y="0"/>
                </a:lnTo>
                <a:lnTo>
                  <a:pt x="4851964" y="2286488"/>
                </a:lnTo>
                <a:lnTo>
                  <a:pt x="0" y="22864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DATASET OVERVIEW/COLLECTION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689" y="2122290"/>
            <a:ext cx="7877184" cy="7838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Disneyland Reviews Dataset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Kaggle.com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TripAdvisor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Features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Review_ID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Rating 1-5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Reviewer_Location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Review_Text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Disneyland_Branch</a:t>
            </a:r>
          </a:p>
          <a:p>
            <a:pPr algn="l" marL="1813558" indent="-453390" lvl="3">
              <a:lnSpc>
                <a:spcPts val="5235"/>
              </a:lnSpc>
              <a:buFont typeface="Arial"/>
              <a:buChar char="￭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Paris</a:t>
            </a:r>
          </a:p>
          <a:p>
            <a:pPr algn="l" marL="1813558" indent="-453390" lvl="3">
              <a:lnSpc>
                <a:spcPts val="5235"/>
              </a:lnSpc>
              <a:buFont typeface="Arial"/>
              <a:buChar char="￭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Hong Kong</a:t>
            </a:r>
          </a:p>
          <a:p>
            <a:pPr algn="l" marL="1813558" indent="-453390" lvl="3">
              <a:lnSpc>
                <a:spcPts val="5235"/>
              </a:lnSpc>
              <a:buFont typeface="Arial"/>
              <a:buChar char="￭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California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DATASET OVERVIEW/COLLECTION CONT.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10611194" cy="38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Advantages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Large Dataset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Web scraping process was done by the author.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Disadvantages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Limiting to only Tripadvisor source and not including reviews from Google and Yelp.</a:t>
            </a: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EXTRACTION AND PREPARATION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10611194" cy="652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Tools: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Pandas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Numpy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</a:t>
            </a:r>
          </a:p>
          <a:p>
            <a:pPr algn="l" marL="1813558" indent="-453390" lvl="3">
              <a:lnSpc>
                <a:spcPts val="5235"/>
              </a:lnSpc>
              <a:buFont typeface="Arial"/>
              <a:buChar char="￭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Regular Expression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Matplotlib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NLTK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Natural Language Toolkit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Tensorflow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Keras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06871" y="2214174"/>
            <a:ext cx="10107343" cy="1624485"/>
          </a:xfrm>
          <a:custGeom>
            <a:avLst/>
            <a:gdLst/>
            <a:ahLst/>
            <a:cxnLst/>
            <a:rect r="r" b="b" t="t" l="l"/>
            <a:pathLst>
              <a:path h="1624485" w="10107343">
                <a:moveTo>
                  <a:pt x="0" y="0"/>
                </a:moveTo>
                <a:lnTo>
                  <a:pt x="10107343" y="0"/>
                </a:lnTo>
                <a:lnTo>
                  <a:pt x="10107343" y="1624485"/>
                </a:lnTo>
                <a:lnTo>
                  <a:pt x="0" y="16244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30501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94306" y="4854351"/>
            <a:ext cx="10119908" cy="1704406"/>
          </a:xfrm>
          <a:custGeom>
            <a:avLst/>
            <a:gdLst/>
            <a:ahLst/>
            <a:cxnLst/>
            <a:rect r="r" b="b" t="t" l="l"/>
            <a:pathLst>
              <a:path h="1704406" w="10119908">
                <a:moveTo>
                  <a:pt x="0" y="0"/>
                </a:moveTo>
                <a:lnTo>
                  <a:pt x="10119908" y="0"/>
                </a:lnTo>
                <a:lnTo>
                  <a:pt x="10119908" y="1704406"/>
                </a:lnTo>
                <a:lnTo>
                  <a:pt x="0" y="17044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6968332"/>
            <a:ext cx="10085514" cy="2969175"/>
          </a:xfrm>
          <a:custGeom>
            <a:avLst/>
            <a:gdLst/>
            <a:ahLst/>
            <a:cxnLst/>
            <a:rect r="r" b="b" t="t" l="l"/>
            <a:pathLst>
              <a:path h="2969175" w="10085514">
                <a:moveTo>
                  <a:pt x="0" y="0"/>
                </a:moveTo>
                <a:lnTo>
                  <a:pt x="10085514" y="0"/>
                </a:lnTo>
                <a:lnTo>
                  <a:pt x="10085514" y="2969175"/>
                </a:lnTo>
                <a:lnTo>
                  <a:pt x="0" y="29691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EXTRACTION AND PREPARATION CONT.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06871" y="2798723"/>
            <a:ext cx="8980008" cy="2254019"/>
          </a:xfrm>
          <a:custGeom>
            <a:avLst/>
            <a:gdLst/>
            <a:ahLst/>
            <a:cxnLst/>
            <a:rect r="r" b="b" t="t" l="l"/>
            <a:pathLst>
              <a:path h="2254019" w="8980008">
                <a:moveTo>
                  <a:pt x="0" y="0"/>
                </a:moveTo>
                <a:lnTo>
                  <a:pt x="8980008" y="0"/>
                </a:lnTo>
                <a:lnTo>
                  <a:pt x="8980008" y="2254019"/>
                </a:lnTo>
                <a:lnTo>
                  <a:pt x="0" y="22540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938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5800772"/>
            <a:ext cx="8958179" cy="4242594"/>
          </a:xfrm>
          <a:custGeom>
            <a:avLst/>
            <a:gdLst/>
            <a:ahLst/>
            <a:cxnLst/>
            <a:rect r="r" b="b" t="t" l="l"/>
            <a:pathLst>
              <a:path h="4242594" w="8958179">
                <a:moveTo>
                  <a:pt x="0" y="0"/>
                </a:moveTo>
                <a:lnTo>
                  <a:pt x="8958179" y="0"/>
                </a:lnTo>
                <a:lnTo>
                  <a:pt x="8958179" y="4242594"/>
                </a:lnTo>
                <a:lnTo>
                  <a:pt x="0" y="42425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EXTRACTION AND PREPARATION CONT.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695" y="2145943"/>
            <a:ext cx="1186641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63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HANDLING NULLS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5147992"/>
            <a:ext cx="1186641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63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HANDLING DUPLICATES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3046373"/>
            <a:ext cx="10651779" cy="925482"/>
          </a:xfrm>
          <a:custGeom>
            <a:avLst/>
            <a:gdLst/>
            <a:ahLst/>
            <a:cxnLst/>
            <a:rect r="r" b="b" t="t" l="l"/>
            <a:pathLst>
              <a:path h="925482" w="10651779">
                <a:moveTo>
                  <a:pt x="0" y="0"/>
                </a:moveTo>
                <a:lnTo>
                  <a:pt x="10651779" y="0"/>
                </a:lnTo>
                <a:lnTo>
                  <a:pt x="10651779" y="925482"/>
                </a:lnTo>
                <a:lnTo>
                  <a:pt x="0" y="9254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DATA EXTRACTION AND PREPARATION CONT.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695" y="2145943"/>
            <a:ext cx="11866415" cy="490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635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SPECIFY TO CALIFORNIA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524305"/>
            <a:ext cx="13537788" cy="19856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b="true" sz="2799" spc="635" u="sng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CONTINUE CODE IN WORKBOOK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4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REMOVE NON-ALPHANUMERIC CHARACTERS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4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TOKENIZATION</a:t>
            </a:r>
          </a:p>
          <a:p>
            <a:pPr algn="l" marL="453390" indent="-226695" lvl="1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spc="4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LEMMATIZATION</a:t>
            </a:r>
          </a:p>
          <a:p>
            <a:pPr algn="l" marL="453390" indent="-226695" lvl="1">
              <a:lnSpc>
                <a:spcPts val="2940"/>
              </a:lnSpc>
              <a:buFont typeface="Arial"/>
              <a:buChar char="•"/>
            </a:pPr>
            <a:r>
              <a:rPr lang="en-US" sz="2100" spc="476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PADDING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965957"/>
            <a:ext cx="9562401" cy="7366090"/>
          </a:xfrm>
          <a:custGeom>
            <a:avLst/>
            <a:gdLst/>
            <a:ahLst/>
            <a:cxnLst/>
            <a:rect r="r" b="b" t="t" l="l"/>
            <a:pathLst>
              <a:path h="7366090" w="9562401">
                <a:moveTo>
                  <a:pt x="0" y="0"/>
                </a:moveTo>
                <a:lnTo>
                  <a:pt x="9562401" y="0"/>
                </a:lnTo>
                <a:lnTo>
                  <a:pt x="9562401" y="7366090"/>
                </a:lnTo>
                <a:lnTo>
                  <a:pt x="0" y="73660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51983" y="1965957"/>
            <a:ext cx="5458455" cy="2187893"/>
          </a:xfrm>
          <a:custGeom>
            <a:avLst/>
            <a:gdLst/>
            <a:ahLst/>
            <a:cxnLst/>
            <a:rect r="r" b="b" t="t" l="l"/>
            <a:pathLst>
              <a:path h="2187893" w="5458455">
                <a:moveTo>
                  <a:pt x="0" y="0"/>
                </a:moveTo>
                <a:lnTo>
                  <a:pt x="5458455" y="0"/>
                </a:lnTo>
                <a:lnTo>
                  <a:pt x="5458455" y="2187894"/>
                </a:lnTo>
                <a:lnTo>
                  <a:pt x="0" y="21878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EXPLORATORY ANALYSIS CONT.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06871" y="7316112"/>
            <a:ext cx="8781227" cy="2298305"/>
          </a:xfrm>
          <a:custGeom>
            <a:avLst/>
            <a:gdLst/>
            <a:ahLst/>
            <a:cxnLst/>
            <a:rect r="r" b="b" t="t" l="l"/>
            <a:pathLst>
              <a:path h="2298305" w="8781227">
                <a:moveTo>
                  <a:pt x="0" y="0"/>
                </a:moveTo>
                <a:lnTo>
                  <a:pt x="8781227" y="0"/>
                </a:lnTo>
                <a:lnTo>
                  <a:pt x="8781227" y="2298305"/>
                </a:lnTo>
                <a:lnTo>
                  <a:pt x="0" y="22983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3549" r="-21931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06871" y="1922877"/>
            <a:ext cx="8781227" cy="5059860"/>
          </a:xfrm>
          <a:custGeom>
            <a:avLst/>
            <a:gdLst/>
            <a:ahLst/>
            <a:cxnLst/>
            <a:rect r="r" b="b" t="t" l="l"/>
            <a:pathLst>
              <a:path h="5059860" w="8781227">
                <a:moveTo>
                  <a:pt x="0" y="0"/>
                </a:moveTo>
                <a:lnTo>
                  <a:pt x="8781227" y="0"/>
                </a:lnTo>
                <a:lnTo>
                  <a:pt x="8781227" y="5059860"/>
                </a:lnTo>
                <a:lnTo>
                  <a:pt x="0" y="505986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7529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999155" y="2273633"/>
            <a:ext cx="2869867" cy="2869867"/>
          </a:xfrm>
          <a:custGeom>
            <a:avLst/>
            <a:gdLst/>
            <a:ahLst/>
            <a:cxnLst/>
            <a:rect r="r" b="b" t="t" l="l"/>
            <a:pathLst>
              <a:path h="2869867" w="2869867">
                <a:moveTo>
                  <a:pt x="0" y="0"/>
                </a:moveTo>
                <a:lnTo>
                  <a:pt x="2869867" y="0"/>
                </a:lnTo>
                <a:lnTo>
                  <a:pt x="2869867" y="2869867"/>
                </a:lnTo>
                <a:lnTo>
                  <a:pt x="0" y="28698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0134708" y="6002906"/>
            <a:ext cx="2145786" cy="1114158"/>
          </a:xfrm>
          <a:custGeom>
            <a:avLst/>
            <a:gdLst/>
            <a:ahLst/>
            <a:cxnLst/>
            <a:rect r="r" b="b" t="t" l="l"/>
            <a:pathLst>
              <a:path h="1114158" w="2145786">
                <a:moveTo>
                  <a:pt x="0" y="0"/>
                </a:moveTo>
                <a:lnTo>
                  <a:pt x="2145786" y="0"/>
                </a:lnTo>
                <a:lnTo>
                  <a:pt x="2145786" y="1114158"/>
                </a:lnTo>
                <a:lnTo>
                  <a:pt x="0" y="11141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635087" y="7316112"/>
            <a:ext cx="2334195" cy="1167098"/>
          </a:xfrm>
          <a:custGeom>
            <a:avLst/>
            <a:gdLst/>
            <a:ahLst/>
            <a:cxnLst/>
            <a:rect r="r" b="b" t="t" l="l"/>
            <a:pathLst>
              <a:path h="1167098" w="2334195">
                <a:moveTo>
                  <a:pt x="0" y="0"/>
                </a:moveTo>
                <a:lnTo>
                  <a:pt x="2334195" y="0"/>
                </a:lnTo>
                <a:lnTo>
                  <a:pt x="2334195" y="1167097"/>
                </a:lnTo>
                <a:lnTo>
                  <a:pt x="0" y="116709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603226" y="5909844"/>
            <a:ext cx="2145786" cy="1072893"/>
          </a:xfrm>
          <a:custGeom>
            <a:avLst/>
            <a:gdLst/>
            <a:ahLst/>
            <a:cxnLst/>
            <a:rect r="r" b="b" t="t" l="l"/>
            <a:pathLst>
              <a:path h="1072893" w="2145786">
                <a:moveTo>
                  <a:pt x="0" y="0"/>
                </a:moveTo>
                <a:lnTo>
                  <a:pt x="2145786" y="0"/>
                </a:lnTo>
                <a:lnTo>
                  <a:pt x="2145786" y="1072893"/>
                </a:lnTo>
                <a:lnTo>
                  <a:pt x="0" y="107289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34708" y="8721854"/>
            <a:ext cx="2145786" cy="1072893"/>
          </a:xfrm>
          <a:custGeom>
            <a:avLst/>
            <a:gdLst/>
            <a:ahLst/>
            <a:cxnLst/>
            <a:rect r="r" b="b" t="t" l="l"/>
            <a:pathLst>
              <a:path h="1072893" w="2145786">
                <a:moveTo>
                  <a:pt x="0" y="0"/>
                </a:moveTo>
                <a:lnTo>
                  <a:pt x="2145786" y="0"/>
                </a:lnTo>
                <a:lnTo>
                  <a:pt x="2145786" y="1072892"/>
                </a:lnTo>
                <a:lnTo>
                  <a:pt x="0" y="107289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603226" y="8721854"/>
            <a:ext cx="2145786" cy="1072893"/>
          </a:xfrm>
          <a:custGeom>
            <a:avLst/>
            <a:gdLst/>
            <a:ahLst/>
            <a:cxnLst/>
            <a:rect r="r" b="b" t="t" l="l"/>
            <a:pathLst>
              <a:path h="1072893" w="2145786">
                <a:moveTo>
                  <a:pt x="0" y="0"/>
                </a:moveTo>
                <a:lnTo>
                  <a:pt x="2145786" y="0"/>
                </a:lnTo>
                <a:lnTo>
                  <a:pt x="2145786" y="1072892"/>
                </a:lnTo>
                <a:lnTo>
                  <a:pt x="0" y="107289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EXPLORATORY ANALYSIS CONT.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022718"/>
            <a:ext cx="9821997" cy="3120782"/>
          </a:xfrm>
          <a:custGeom>
            <a:avLst/>
            <a:gdLst/>
            <a:ahLst/>
            <a:cxnLst/>
            <a:rect r="r" b="b" t="t" l="l"/>
            <a:pathLst>
              <a:path h="3120782" w="9821997">
                <a:moveTo>
                  <a:pt x="0" y="0"/>
                </a:moveTo>
                <a:lnTo>
                  <a:pt x="9821997" y="0"/>
                </a:lnTo>
                <a:lnTo>
                  <a:pt x="9821997" y="3120782"/>
                </a:lnTo>
                <a:lnTo>
                  <a:pt x="0" y="31207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EXPLORATORY ANALYSIS CONT.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CHOICE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16840856" cy="7838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Bidirectional Long Short Term Model aka BiLSTM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 form of LSTM model which takes input in both directions.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Forward and backward directions enable model to learn past and future meanings.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Regular LSTM</a:t>
            </a:r>
          </a:p>
          <a:p>
            <a:pPr algn="l" marL="1813558" indent="-453390" lvl="3">
              <a:lnSpc>
                <a:spcPts val="5235"/>
              </a:lnSpc>
              <a:buFont typeface="Arial"/>
              <a:buChar char="￭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Left to right sequence processing.</a:t>
            </a:r>
          </a:p>
          <a:p>
            <a:pPr algn="l" marL="1813558" indent="-453390" lvl="3">
              <a:lnSpc>
                <a:spcPts val="5235"/>
              </a:lnSpc>
              <a:buFont typeface="Arial"/>
              <a:buChar char="￭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 Learns meaning based on past words.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Pros: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Better understanding because of past and future data.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Better accuracy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Cons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Consumes a lot of computational resources.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Takes a long time to train.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CREATION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10611194" cy="586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Split data into a 70/30 split for training and testing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Make sure there is sufficient data for model to train on.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30% is adequate.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Subtract 1 from y_test and y_train for sparse categorical cross entropy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 Model Layers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Initialize optimizer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Compile model with class weights, early stopping, and learning rate schedule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LAYERS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12920727" cy="6524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Embedding Layer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Indices to dense vectors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Input_dim set to vocabulary size for total number of unique tokens.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200 dimensional vector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Input length set to max length for the fixed length for all sequences.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Bidirectional LSTM Layer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Wrap the LSTM with Bidirectional for dependencies in both directions.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Return_sequences set to true to output entire sequence for each step.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Recurrent dropout set to 0.1 to regularize the model.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Kernel Regularizer set to l2(0.002) for overfitting.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689" y="2122290"/>
            <a:ext cx="14576906" cy="849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Global Max Pooling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Reduces size of data.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Keep most important information.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Combat overfitting.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Dropout Layer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Set to 30%.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Drops 30% of neurons to deal with overfitting.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Batch Normalization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Prevent vanishing gradients.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 faster.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Mild dropout.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Keeps mean output closer to zero and standard deviation closer to one.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968921" y="2312790"/>
            <a:ext cx="2636674" cy="2337477"/>
          </a:xfrm>
          <a:custGeom>
            <a:avLst/>
            <a:gdLst/>
            <a:ahLst/>
            <a:cxnLst/>
            <a:rect r="r" b="b" t="t" l="l"/>
            <a:pathLst>
              <a:path h="2337477" w="2636674">
                <a:moveTo>
                  <a:pt x="0" y="0"/>
                </a:moveTo>
                <a:lnTo>
                  <a:pt x="2636673" y="0"/>
                </a:lnTo>
                <a:lnTo>
                  <a:pt x="2636673" y="2337477"/>
                </a:lnTo>
                <a:lnTo>
                  <a:pt x="0" y="233747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1928730" y="6661922"/>
            <a:ext cx="3897003" cy="2596378"/>
          </a:xfrm>
          <a:custGeom>
            <a:avLst/>
            <a:gdLst/>
            <a:ahLst/>
            <a:cxnLst/>
            <a:rect r="r" b="b" t="t" l="l"/>
            <a:pathLst>
              <a:path h="2596378" w="3897003">
                <a:moveTo>
                  <a:pt x="0" y="0"/>
                </a:moveTo>
                <a:lnTo>
                  <a:pt x="3897002" y="0"/>
                </a:lnTo>
                <a:lnTo>
                  <a:pt x="3897002" y="2596378"/>
                </a:lnTo>
                <a:lnTo>
                  <a:pt x="0" y="25963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LAYERS CONT.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LAYERS CONT.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14212242" cy="586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Dense Layer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64 units and ReLU activation function.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Learning non-linear patterns.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Add L2 regularization for overfitting.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Leaky ReLU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Added after the dense layer with ReLU activation.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Lets a small, non zero value through when input is negative.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Normal ReLU turns all negative values to zero which can kill learning in some neurons.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LAYERS CONT.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14212242" cy="38955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Dropout Layer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Another dropout layer set to 30%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Output Layer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Multi-class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Set to 5 classes that correspond to 1-5 ratings.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Softmax to convert to class probabilties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COMPUTATION AND FITTING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14212242" cy="71817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Optimizer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Manually set Adam optimizer with learning rate of 0.0005.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Sparse_categorical_crossentropy since we have ratings with integer values. Use for multiclass classification.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Accuracy metric.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Callbacks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Monitor is set to validation loss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Patience set to 3.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Restore best weights.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LR Schedule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ReduceLROnPlateau to adjust learning rate when there is no improvement.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COMPUTATION AND FITTING CONT.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14212242" cy="4552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Class Weights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Used to assist with the class imbalance that was shown in the charts.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Make sure classes with less volume are not ignored during training.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Fitting Model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15 epochs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Apply the class weights, learning rate adjustments, and early stopping.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1965957"/>
            <a:ext cx="15117407" cy="7123755"/>
          </a:xfrm>
          <a:custGeom>
            <a:avLst/>
            <a:gdLst/>
            <a:ahLst/>
            <a:cxnLst/>
            <a:rect r="r" b="b" t="t" l="l"/>
            <a:pathLst>
              <a:path h="7123755" w="15117407">
                <a:moveTo>
                  <a:pt x="0" y="0"/>
                </a:moveTo>
                <a:lnTo>
                  <a:pt x="15117407" y="0"/>
                </a:lnTo>
                <a:lnTo>
                  <a:pt x="15117407" y="7123755"/>
                </a:lnTo>
                <a:lnTo>
                  <a:pt x="0" y="712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COMPUTATION AND FITTING CONT.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EPOCH SUMMARY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689" y="2122290"/>
            <a:ext cx="17012231" cy="7838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Epoch 1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Beginning of the learning process. There is high loss and low accuracy since it just started.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Training Accuracy: 0.3094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Training Loss: 2.6363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Accuracy: 0.1739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Loss: 2.1066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Epoch 2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There is a big improvement in the validation accuracy which means the model learned patterns.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Training Accuracy: 0.4317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Training Loss: 1.8190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Accuracy: 0.5167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Loss: 1.7324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EPOCH SUMMARY CONT.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6871" y="1775457"/>
            <a:ext cx="17012231" cy="849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Epoch 3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Here in epoch 3, we get the best validation accuracy which means the model was generalizing well.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Training Accuracy: 0.5476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Training Loss: 1.4925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Accuracy: 0.6419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Loss: 1.4519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Epoch 4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Small drop in the validation accuracy but model was still learning.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Training Accuracy: 0.6224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Training Loss: 1.2523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Accuracy: 0.5928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Loss: 1.3153</a:t>
            </a:r>
          </a:p>
        </p:txBody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EPOCH SUMMARY CONT.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6871" y="1775457"/>
            <a:ext cx="17012231" cy="78389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Epoch 5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Epoch 5 has the best validation loss. Appears to have smooth training at this point.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Training Accuracy: 0.6763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Training Loss: 1.0481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Accuracy: 0.6125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Loss: 1.2174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Epoch 6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Training Accuracy: 0.7205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Training Loss: 0.8768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Accuracy: 0.5899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Loss: 1.1891</a:t>
            </a:r>
          </a:p>
          <a:p>
            <a:pPr algn="l">
              <a:lnSpc>
                <a:spcPts val="5235"/>
              </a:lnSpc>
            </a:pPr>
          </a:p>
        </p:txBody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EPOCH SUMMARY CONT.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6871" y="1775457"/>
            <a:ext cx="17012231" cy="98106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Epoch 7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Signs of overfitting since we see the validation loss increasing.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Training Accuracy: 0.7477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Training Loss: 0.7567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Accuracy: 0.5739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Loss: 1.2399</a:t>
            </a:r>
          </a:p>
          <a:p>
            <a:pPr algn="l">
              <a:lnSpc>
                <a:spcPts val="5235"/>
              </a:lnSpc>
            </a:pP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Epoch 8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performance drops which indicates overfitting.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Training Accuracy: 0.7911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Training Loss: 0.6274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Accuracy: 0.4775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Loss: 1.4723</a:t>
            </a: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</a:p>
        </p:txBody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EPOCH SUMMARY CONT.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6871" y="1775457"/>
            <a:ext cx="17012231" cy="58672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Epoch 9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From this point the training is improving and the validation recovers a bit.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Training Accuracy: 0.8286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Training Loss: 0.5374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Accuracy: 0.6100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Validation Loss: 1.2694</a:t>
            </a: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</a:p>
        </p:txBody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EPOCH SUMMARY CONT.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6871" y="1775457"/>
            <a:ext cx="17012231" cy="91533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Key Points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The model took a long time for each epoch—around 26 minutes each time, which can be bad if stakeholders' performance needs to be improved.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In Epoch 3, we have the best accuracy at 64.19%.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Epoch 5 is the best epoch for validation loss at 1.2174.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We see overfitting after epoch five when validation starts to fluctuate.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The model learns well but does not appear to generalize all the time.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There was a significant difference in spread for each rating since ratings given were primarily 4s and 5s. Below are the counts for each rating that needed to be predicted.</a:t>
            </a: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</a:p>
        </p:txBody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046137" y="2287899"/>
            <a:ext cx="10152068" cy="7999101"/>
          </a:xfrm>
          <a:custGeom>
            <a:avLst/>
            <a:gdLst/>
            <a:ahLst/>
            <a:cxnLst/>
            <a:rect r="r" b="b" t="t" l="l"/>
            <a:pathLst>
              <a:path h="7999101" w="10152068">
                <a:moveTo>
                  <a:pt x="0" y="0"/>
                </a:moveTo>
                <a:lnTo>
                  <a:pt x="10152068" y="0"/>
                </a:lnTo>
                <a:lnTo>
                  <a:pt x="10152068" y="7999101"/>
                </a:lnTo>
                <a:lnTo>
                  <a:pt x="0" y="799910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SUMMARY </a:t>
            </a:r>
          </a:p>
        </p:txBody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4189783" y="2181302"/>
            <a:ext cx="9908434" cy="7926748"/>
          </a:xfrm>
          <a:custGeom>
            <a:avLst/>
            <a:gdLst/>
            <a:ahLst/>
            <a:cxnLst/>
            <a:rect r="r" b="b" t="t" l="l"/>
            <a:pathLst>
              <a:path h="7926748" w="9908434">
                <a:moveTo>
                  <a:pt x="0" y="0"/>
                </a:moveTo>
                <a:lnTo>
                  <a:pt x="9908434" y="0"/>
                </a:lnTo>
                <a:lnTo>
                  <a:pt x="9908434" y="7926747"/>
                </a:lnTo>
                <a:lnTo>
                  <a:pt x="0" y="79267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SUMMARY </a:t>
            </a:r>
          </a:p>
        </p:txBody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3847992" y="2718392"/>
            <a:ext cx="10592017" cy="4850216"/>
          </a:xfrm>
          <a:custGeom>
            <a:avLst/>
            <a:gdLst/>
            <a:ahLst/>
            <a:cxnLst/>
            <a:rect r="r" b="b" t="t" l="l"/>
            <a:pathLst>
              <a:path h="4850216" w="10592017">
                <a:moveTo>
                  <a:pt x="0" y="0"/>
                </a:moveTo>
                <a:lnTo>
                  <a:pt x="10592016" y="0"/>
                </a:lnTo>
                <a:lnTo>
                  <a:pt x="10592016" y="4850216"/>
                </a:lnTo>
                <a:lnTo>
                  <a:pt x="0" y="4850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SUMMARY </a:t>
            </a:r>
          </a:p>
        </p:txBody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MODEL ANALYSIS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6871" y="1775457"/>
            <a:ext cx="17012231" cy="11125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Overall Metrics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Did not achieve 80% accuracy or higher.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59% accuracy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Classes 4 and 5 skewed.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F1 score: 39%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Implications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Class imbalance.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Fails to classify lower ratings accurately even after applying class weights.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Limitations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Class imbalance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Overfitting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Limited Scope</a:t>
            </a: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</a:p>
        </p:txBody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695" y="1760761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06871" y="942975"/>
            <a:ext cx="16230600" cy="651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0"/>
              </a:lnSpc>
              <a:spcBef>
                <a:spcPct val="0"/>
              </a:spcBef>
            </a:pPr>
            <a:r>
              <a:rPr lang="en-US" b="true" sz="3714" spc="843">
                <a:solidFill>
                  <a:srgbClr val="000000"/>
                </a:solidFill>
                <a:latin typeface="Public Sans Bold"/>
                <a:ea typeface="Public Sans Bold"/>
                <a:cs typeface="Public Sans Bold"/>
                <a:sym typeface="Public Sans Bold"/>
              </a:rPr>
              <a:t>NEXT STEPS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06871" y="1775457"/>
            <a:ext cx="17012231" cy="8496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Next Approaches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Research ways to work around class imbalance problem.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Use more reviews.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Create a more complex model with added layers.</a:t>
            </a:r>
          </a:p>
          <a:p>
            <a:pPr algn="l" marL="604519" indent="-302260" lvl="1">
              <a:lnSpc>
                <a:spcPts val="5235"/>
              </a:lnSpc>
              <a:buFont typeface="Arial"/>
              <a:buChar char="•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Business Approach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Use this as a foundation for a flagger system.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Find ways to market what is performing well.</a:t>
            </a:r>
          </a:p>
          <a:p>
            <a:pPr algn="l" marL="1209039" indent="-403013" lvl="2">
              <a:lnSpc>
                <a:spcPts val="5235"/>
              </a:lnSpc>
              <a:buFont typeface="Arial"/>
              <a:buChar char="⚬"/>
            </a:pPr>
            <a:r>
              <a:rPr lang="en-US" sz="2799">
                <a:solidFill>
                  <a:srgbClr val="000000"/>
                </a:solidFill>
                <a:latin typeface="Public Sans"/>
                <a:ea typeface="Public Sans"/>
                <a:cs typeface="Public Sans"/>
                <a:sym typeface="Public Sans"/>
              </a:rPr>
              <a:t>Find common trends for visitor complaints. </a:t>
            </a: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</a:p>
          <a:p>
            <a:pPr algn="l">
              <a:lnSpc>
                <a:spcPts val="5235"/>
              </a:lnSpc>
            </a:pPr>
          </a:p>
        </p:txBody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>
  <p:cSld>
    <p:bg>
      <p:bgPr>
        <a:solidFill>
          <a:srgbClr val="EFEE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1028706" y="4514765"/>
            <a:ext cx="16230594" cy="38509"/>
          </a:xfrm>
          <a:prstGeom prst="line">
            <a:avLst/>
          </a:prstGeom>
          <a:ln cap="flat" w="9525">
            <a:solidFill>
              <a:srgbClr val="2B2C3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850974" y="2332416"/>
            <a:ext cx="16408332" cy="20840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50"/>
              </a:lnSpc>
            </a:pPr>
            <a:r>
              <a:rPr lang="en-US" sz="16758" spc="83">
                <a:solidFill>
                  <a:srgbClr val="2B2C3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Thank you!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16407" y="8041005"/>
            <a:ext cx="7862435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David Fabian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M.S. Data Analytics</a:t>
            </a:r>
          </a:p>
          <a:p>
            <a:pPr algn="l">
              <a:lnSpc>
                <a:spcPts val="3450"/>
              </a:lnSpc>
            </a:pPr>
            <a:r>
              <a:rPr lang="en-US" sz="2300">
                <a:solidFill>
                  <a:srgbClr val="2B2C30"/>
                </a:solidFill>
                <a:latin typeface="Public Sans"/>
                <a:ea typeface="Public Sans"/>
                <a:cs typeface="Public Sans"/>
                <a:sym typeface="Public Sans"/>
              </a:rPr>
              <a:t>Western Governors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DAGkoR2lqW8</dc:identifier>
  <dcterms:modified xsi:type="dcterms:W3CDTF">2011-08-01T06:04:30Z</dcterms:modified>
  <cp:revision>1</cp:revision>
  <dc:title>Pitch Deck</dc:title>
</cp:coreProperties>
</file>